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Arapey Bold" panose="020B0604020202020204" charset="0"/>
      <p:regular r:id="rId33"/>
      <p:bold r:id="rId34"/>
    </p:embeddedFont>
    <p:embeddedFont>
      <p:font typeface="Times New Roman Bold" panose="02020803070505020304" pitchFamily="18" charset="0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tha Garg" userId="e8a9091902bfa31d" providerId="LiveId" clId="{21C2F890-17EB-45B8-9E69-F7D5B174CE27}"/>
    <pc:docChg chg="modSld">
      <pc:chgData name="Nishtha Garg" userId="e8a9091902bfa31d" providerId="LiveId" clId="{21C2F890-17EB-45B8-9E69-F7D5B174CE27}" dt="2026-01-01T10:55:41.429" v="0" actId="14734"/>
      <pc:docMkLst>
        <pc:docMk/>
      </pc:docMkLst>
      <pc:sldChg chg="modSp mod">
        <pc:chgData name="Nishtha Garg" userId="e8a9091902bfa31d" providerId="LiveId" clId="{21C2F890-17EB-45B8-9E69-F7D5B174CE27}" dt="2026-01-01T10:55:41.429" v="0" actId="14734"/>
        <pc:sldMkLst>
          <pc:docMk/>
          <pc:sldMk cId="0" sldId="275"/>
        </pc:sldMkLst>
        <pc:graphicFrameChg chg="modGraphic">
          <ac:chgData name="Nishtha Garg" userId="e8a9091902bfa31d" providerId="LiveId" clId="{21C2F890-17EB-45B8-9E69-F7D5B174CE27}" dt="2026-01-01T10:55:41.429" v="0" actId="14734"/>
          <ac:graphicFrameMkLst>
            <pc:docMk/>
            <pc:sldMk cId="0" sldId="275"/>
            <ac:graphicFrameMk id="1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WhatsApp%20Image%202025-09-22%20at%2011.28.54%20PM%20(1).jpe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User1.jpeg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user2.jpeg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Admin1.jpeg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Admin2.jpeg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WhatsApp%20Image%202025-09-22%20at%2011.48.43%20PM%20(1).jpe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06196" y="-7156856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2" y="0"/>
                </a:lnTo>
                <a:lnTo>
                  <a:pt x="10812392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90297" y="3249696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2" y="0"/>
                </a:lnTo>
                <a:lnTo>
                  <a:pt x="5764382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18006" y="7804694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1620" y="0"/>
          <a:ext cx="15740199" cy="1801896"/>
        </p:xfrm>
        <a:graphic>
          <a:graphicData uri="http://schemas.openxmlformats.org/drawingml/2006/table">
            <a:tbl>
              <a:tblPr/>
              <a:tblGrid>
                <a:gridCol w="1574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1896">
                <a:tc>
                  <a:txBody>
                    <a:bodyPr/>
                    <a:lstStyle/>
                    <a:p>
                      <a:pPr algn="ctr">
                        <a:lnSpc>
                          <a:spcPts val="10220"/>
                        </a:lnSpc>
                        <a:defRPr/>
                      </a:pPr>
                      <a:r>
                        <a:rPr lang="en-US" sz="7300" b="1">
                          <a:solidFill>
                            <a:srgbClr val="2A2E3A"/>
                          </a:solidFill>
                          <a:latin typeface="Times New Roman Bold" panose="02030802070405020303"/>
                          <a:ea typeface="Times New Roman Bold" panose="02030802070405020303"/>
                          <a:cs typeface="Times New Roman Bold" panose="02030802070405020303"/>
                          <a:sym typeface="Times New Roman Bold" panose="02030802070405020303"/>
                        </a:rPr>
                        <a:t>       BANASTHALI VIDYAPITH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7092524" y="8472678"/>
          <a:ext cx="799295" cy="1578169"/>
        </p:xfrm>
        <a:graphic>
          <a:graphicData uri="http://schemas.openxmlformats.org/drawingml/2006/table">
            <a:tbl>
              <a:tblPr/>
              <a:tblGrid>
                <a:gridCol w="79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8169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8283750" y="1355138"/>
            <a:ext cx="2820881" cy="2889545"/>
          </a:xfrm>
          <a:custGeom>
            <a:avLst/>
            <a:gdLst/>
            <a:ahLst/>
            <a:cxnLst/>
            <a:rect l="l" t="t" r="r" b="b"/>
            <a:pathLst>
              <a:path w="2820881" h="2889545">
                <a:moveTo>
                  <a:pt x="0" y="0"/>
                </a:moveTo>
                <a:lnTo>
                  <a:pt x="2820880" y="0"/>
                </a:lnTo>
                <a:lnTo>
                  <a:pt x="2820880" y="2889545"/>
                </a:lnTo>
                <a:lnTo>
                  <a:pt x="0" y="2889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812" t="-56490" r="-58415" b="-5947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7075" y="3288726"/>
            <a:ext cx="7874231" cy="2535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endParaRPr/>
          </a:p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2A2E3A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CSD024</a:t>
            </a:r>
          </a:p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2A2E3A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TripConnect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7247" y="5660205"/>
            <a:ext cx="5609664" cy="412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285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</a:t>
            </a:r>
            <a:r>
              <a:rPr lang="en-US" sz="4285" b="1" u="sng">
                <a:solidFill>
                  <a:srgbClr val="2A2E3A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Guided By-</a:t>
            </a:r>
          </a:p>
          <a:p>
            <a:pPr algn="ctr">
              <a:lnSpc>
                <a:spcPts val="5160"/>
              </a:lnSpc>
            </a:pPr>
            <a:endParaRPr lang="en-US" sz="4285" b="1" u="sng">
              <a:solidFill>
                <a:srgbClr val="2A2E3A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  <a:p>
            <a:pPr algn="ctr">
              <a:lnSpc>
                <a:spcPts val="5140"/>
              </a:lnSpc>
            </a:pPr>
            <a:r>
              <a:rPr lang="en-US" sz="36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Dr. Vaibhav Vyas</a:t>
            </a:r>
          </a:p>
          <a:p>
            <a:pPr algn="ctr">
              <a:lnSpc>
                <a:spcPts val="5140"/>
              </a:lnSpc>
            </a:pPr>
            <a:r>
              <a:rPr lang="en-US" sz="36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Associate Professor</a:t>
            </a:r>
          </a:p>
          <a:p>
            <a:pPr algn="ctr">
              <a:lnSpc>
                <a:spcPts val="5140"/>
              </a:lnSpc>
            </a:pPr>
            <a:r>
              <a:rPr lang="en-US" sz="36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</a:t>
            </a:r>
          </a:p>
          <a:p>
            <a:pPr algn="l">
              <a:lnSpc>
                <a:spcPts val="5560"/>
              </a:lnSpc>
              <a:spcBef>
                <a:spcPct val="0"/>
              </a:spcBef>
            </a:pPr>
            <a:endParaRPr lang="en-US" sz="3670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408473" y="4440319"/>
            <a:ext cx="5483346" cy="624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endParaRPr/>
          </a:p>
          <a:p>
            <a:pPr algn="ctr">
              <a:lnSpc>
                <a:spcPts val="4825"/>
              </a:lnSpc>
            </a:pPr>
            <a:endParaRPr/>
          </a:p>
          <a:p>
            <a:pPr algn="ctr">
              <a:lnSpc>
                <a:spcPts val="6085"/>
              </a:lnSpc>
            </a:pPr>
            <a:r>
              <a:rPr lang="en-US" sz="4345" b="1" u="sng">
                <a:solidFill>
                  <a:srgbClr val="2A2E3A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Submitted By-</a:t>
            </a:r>
          </a:p>
          <a:p>
            <a:pPr algn="ctr">
              <a:lnSpc>
                <a:spcPts val="4825"/>
              </a:lnSpc>
            </a:pPr>
            <a:endParaRPr lang="en-US" sz="4345" b="1" u="sng">
              <a:solidFill>
                <a:srgbClr val="2A2E3A"/>
              </a:solidFill>
              <a:latin typeface="Times New Roman Bold" panose="02030802070405020303"/>
              <a:ea typeface="Times New Roman Bold" panose="02030802070405020303"/>
              <a:cs typeface="Times New Roman Bold" panose="02030802070405020303"/>
              <a:sym typeface="Times New Roman Bold" panose="02030802070405020303"/>
            </a:endParaRPr>
          </a:p>
          <a:p>
            <a:pPr algn="l">
              <a:lnSpc>
                <a:spcPts val="4825"/>
              </a:lnSpc>
            </a:pPr>
            <a:r>
              <a:rPr lang="en-US" sz="3445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Sakshi Agarwal        2316526</a:t>
            </a:r>
          </a:p>
          <a:p>
            <a:pPr algn="l">
              <a:lnSpc>
                <a:spcPts val="4825"/>
              </a:lnSpc>
            </a:pPr>
            <a:r>
              <a:rPr lang="en-US" sz="3445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Nandini Gupta        2316476</a:t>
            </a:r>
          </a:p>
          <a:p>
            <a:pPr algn="l">
              <a:lnSpc>
                <a:spcPts val="4825"/>
              </a:lnSpc>
            </a:pPr>
            <a:r>
              <a:rPr lang="en-US" sz="3445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Smriti Sharma         2316567</a:t>
            </a:r>
          </a:p>
          <a:p>
            <a:pPr algn="l">
              <a:lnSpc>
                <a:spcPts val="4825"/>
              </a:lnSpc>
            </a:pPr>
            <a:r>
              <a:rPr lang="en-US" sz="3445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Nishtha Garg           2316489</a:t>
            </a:r>
          </a:p>
          <a:p>
            <a:pPr algn="l">
              <a:lnSpc>
                <a:spcPts val="4825"/>
              </a:lnSpc>
            </a:pPr>
            <a:endParaRPr lang="en-US" sz="3445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825"/>
              </a:lnSpc>
              <a:spcBef>
                <a:spcPct val="0"/>
              </a:spcBef>
            </a:pPr>
            <a:endParaRPr lang="en-US" sz="3445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136621" y="9622525"/>
            <a:ext cx="4755198" cy="66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50"/>
              </a:lnSpc>
              <a:spcBef>
                <a:spcPct val="0"/>
              </a:spcBef>
            </a:pPr>
            <a:r>
              <a:rPr lang="en-US" sz="346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B.Tech CSE V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262274"/>
            <a:chOff x="0" y="0"/>
            <a:chExt cx="24384000" cy="168303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14000"/>
            </a:blip>
            <a:srcRect t="38237" b="51403"/>
            <a:stretch>
              <a:fillRect/>
            </a:stretch>
          </p:blipFill>
          <p:spPr>
            <a:xfrm>
              <a:off x="0" y="0"/>
              <a:ext cx="24384000" cy="1683032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843291"/>
            <a:ext cx="18288000" cy="8001251"/>
            <a:chOff x="0" y="0"/>
            <a:chExt cx="4816593" cy="21073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107325"/>
            </a:xfrm>
            <a:custGeom>
              <a:avLst/>
              <a:gdLst/>
              <a:ahLst/>
              <a:cxnLst/>
              <a:rect l="l" t="t" r="r" b="b"/>
              <a:pathLst>
                <a:path w="4816592" h="2107325">
                  <a:moveTo>
                    <a:pt x="0" y="0"/>
                  </a:moveTo>
                  <a:lnTo>
                    <a:pt x="4816592" y="0"/>
                  </a:lnTo>
                  <a:lnTo>
                    <a:pt x="4816592" y="2107325"/>
                  </a:lnTo>
                  <a:lnTo>
                    <a:pt x="0" y="210732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174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8635" y="2214880"/>
          <a:ext cx="8759190" cy="7505700"/>
        </p:xfrm>
        <a:graphic>
          <a:graphicData uri="http://schemas.openxmlformats.org/drawingml/2006/table">
            <a:tbl>
              <a:tblPr/>
              <a:tblGrid>
                <a:gridCol w="553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2650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3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300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PURPOSE AND SCOPE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4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535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PRODUCT FUNCTION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5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USE CASE DIAGRAM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6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4780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HARDWARE REQUIREMENTS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7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4145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SOFTWARE REQUIREMENTS</a:t>
                      </a:r>
                      <a:endParaRPr lang="en-US" sz="3000"/>
                    </a:p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718BAB"/>
                          </a:solidFill>
                          <a:latin typeface="Helios" panose="020B0504020202020204"/>
                          <a:ea typeface="Helios" panose="020B0504020202020204"/>
                          <a:cs typeface="Helios" panose="020B0504020202020204"/>
                          <a:sym typeface="Helios" panose="020B0504020202020204"/>
                        </a:rPr>
                        <a:t>8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 STACK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9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714347" y="2188566"/>
          <a:ext cx="7812378" cy="7224304"/>
        </p:xfrm>
        <a:graphic>
          <a:graphicData uri="http://schemas.openxmlformats.org/drawingml/2006/table">
            <a:tbl>
              <a:tblPr/>
              <a:tblGrid>
                <a:gridCol w="5791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177">
                <a:tc>
                  <a:txBody>
                    <a:bodyPr/>
                    <a:lstStyle/>
                    <a:p>
                      <a:pPr algn="l">
                        <a:lnSpc>
                          <a:spcPts val="4340"/>
                        </a:lnSpc>
                        <a:defRPr/>
                      </a:pPr>
                      <a:r>
                        <a:rPr lang="en-US" sz="31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DIAGRAMS</a:t>
                      </a:r>
                    </a:p>
                    <a:p>
                      <a:pPr marL="457200" indent="-457200" algn="l">
                        <a:lnSpc>
                          <a:spcPts val="434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31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DATA FLOW DIAGRAM 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2600" b="1">
                        <a:solidFill>
                          <a:srgbClr val="718BAB"/>
                        </a:solidFill>
                        <a:latin typeface="Helios Bold" panose="020B0704020202020204"/>
                        <a:ea typeface="Helios Bold" panose="020B0704020202020204"/>
                        <a:cs typeface="Helios Bold" panose="020B0704020202020204"/>
                        <a:sym typeface="Helios Bold" panose="020B0704020202020204"/>
                      </a:endParaRPr>
                    </a:p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10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8373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434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31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ACTIVITY DIAGRAM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11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973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42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SEQUENCE DIAGRAM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14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74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CLASS DIAGRAM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19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2299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DATABASE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20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973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SCREEN IMAGE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27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152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2A2E3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REFERENCE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 panose="020B0704020202020204"/>
                          <a:ea typeface="Helios Bold" panose="020B0704020202020204"/>
                          <a:cs typeface="Helios Bold" panose="020B0704020202020204"/>
                          <a:sym typeface="Helios Bold" panose="020B0704020202020204"/>
                        </a:rPr>
                        <a:t>29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254509" y="-67850"/>
            <a:ext cx="8155182" cy="151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55"/>
              </a:lnSpc>
            </a:pPr>
            <a:r>
              <a:rPr lang="en-US" sz="797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7249775" cy="3099936"/>
            <a:chOff x="0" y="0"/>
            <a:chExt cx="22999700" cy="413324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9930" b="43096"/>
            <a:stretch>
              <a:fillRect/>
            </a:stretch>
          </p:blipFill>
          <p:spPr>
            <a:xfrm>
              <a:off x="0" y="0"/>
              <a:ext cx="22999700" cy="413324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9525" y="2319230"/>
            <a:ext cx="18278475" cy="7967770"/>
            <a:chOff x="0" y="0"/>
            <a:chExt cx="4814084" cy="2098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4084" cy="2098507"/>
            </a:xfrm>
            <a:custGeom>
              <a:avLst/>
              <a:gdLst/>
              <a:ahLst/>
              <a:cxnLst/>
              <a:rect l="l" t="t" r="r" b="b"/>
              <a:pathLst>
                <a:path w="4814084" h="2098507">
                  <a:moveTo>
                    <a:pt x="0" y="0"/>
                  </a:moveTo>
                  <a:lnTo>
                    <a:pt x="4814084" y="0"/>
                  </a:lnTo>
                  <a:lnTo>
                    <a:pt x="4814084" y="2098507"/>
                  </a:lnTo>
                  <a:lnTo>
                    <a:pt x="0" y="209850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46505" y="80778"/>
              <a:ext cx="4499166" cy="1803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480"/>
                </a:lnSpc>
              </a:pPr>
              <a:r>
                <a:rPr lang="en-US" altLang="en-US" sz="4400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TripConnect is a smart travel platform that makes planning journey simple and exciting .Users can design their own trips by choosing destinations, dates, and budgets, or explore ready-made packages for solo, family, or group travel. The platform also connects like-minded traveler's, making journeys more fun and social. With secure payments, easy bookings, and helpful notifications, TripConnect is your all-in-one travel companion.</a:t>
              </a:r>
              <a:endParaRPr lang="en-US" sz="4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33564" y="561623"/>
            <a:ext cx="9620872" cy="135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7475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411059" cy="10287000"/>
            <a:chOff x="0" y="0"/>
            <a:chExt cx="24786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5381" y="837861"/>
            <a:ext cx="7634882" cy="1156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6420" b="1">
                <a:solidFill>
                  <a:srgbClr val="2A2E3A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       PURPOSE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42840" y="837856"/>
            <a:ext cx="7480298" cy="115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6420" b="1">
                <a:solidFill>
                  <a:srgbClr val="2A2E3A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         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350" y="2119630"/>
            <a:ext cx="9144000" cy="77196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045"/>
              </a:lnSpc>
            </a:pPr>
            <a:r>
              <a:rPr lang="en-US" sz="289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</a:p>
          <a:p>
            <a:pPr algn="l">
              <a:lnSpc>
                <a:spcPts val="4745"/>
              </a:lnSpc>
            </a:pPr>
            <a:r>
              <a:rPr lang="en-US" sz="339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Simplify the travel planning process for users through a centralized platform that supports both customized trip creation and inbuilt package selection. </a:t>
            </a:r>
          </a:p>
          <a:p>
            <a:pPr algn="l">
              <a:lnSpc>
                <a:spcPts val="4745"/>
              </a:lnSpc>
            </a:pPr>
            <a:endParaRPr lang="en-US" sz="3390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745"/>
              </a:lnSpc>
            </a:pPr>
            <a:r>
              <a:rPr lang="en-US" sz="339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Enable travellers to create profiles, set preferences, and connect with compatible travel companions for shared journeys.</a:t>
            </a:r>
          </a:p>
          <a:p>
            <a:pPr algn="l">
              <a:lnSpc>
                <a:spcPts val="4745"/>
              </a:lnSpc>
            </a:pPr>
            <a:r>
              <a:rPr lang="en-US" sz="339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43135" y="2119630"/>
            <a:ext cx="8026400" cy="8128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720"/>
              </a:lnSpc>
            </a:pPr>
            <a:r>
              <a:rPr lang="en-US" sz="33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Let users create profiles with travel preferences. </a:t>
            </a:r>
          </a:p>
          <a:p>
            <a:pPr algn="l">
              <a:lnSpc>
                <a:spcPts val="4720"/>
              </a:lnSpc>
            </a:pPr>
            <a:endParaRPr lang="en-US" sz="3370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720"/>
              </a:lnSpc>
            </a:pPr>
            <a:r>
              <a:rPr lang="en-US" sz="33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Match users with suitable travel buddies. </a:t>
            </a:r>
          </a:p>
          <a:p>
            <a:pPr algn="l">
              <a:lnSpc>
                <a:spcPts val="4160"/>
              </a:lnSpc>
            </a:pPr>
            <a:endParaRPr lang="en-US" sz="3370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745"/>
              </a:lnSpc>
            </a:pPr>
            <a:r>
              <a:rPr lang="en-US" sz="339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Enable customized trip planning and provide predefined packages. </a:t>
            </a:r>
          </a:p>
          <a:p>
            <a:pPr algn="l">
              <a:lnSpc>
                <a:spcPts val="4720"/>
              </a:lnSpc>
            </a:pPr>
            <a:endParaRPr lang="en-US" sz="3390">
              <a:solidFill>
                <a:srgbClr val="2A2E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720"/>
              </a:lnSpc>
            </a:pPr>
            <a:r>
              <a:rPr lang="en-US" sz="33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Support trip booking, secure payments, and notifications.</a:t>
            </a:r>
          </a:p>
          <a:p>
            <a:pPr algn="l">
              <a:lnSpc>
                <a:spcPts val="4720"/>
              </a:lnSpc>
            </a:pPr>
            <a:r>
              <a:rPr lang="en-US" sz="33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algn="l">
              <a:lnSpc>
                <a:spcPts val="4720"/>
              </a:lnSpc>
              <a:spcBef>
                <a:spcPct val="0"/>
              </a:spcBef>
            </a:pPr>
            <a:r>
              <a:rPr lang="en-US" sz="3370">
                <a:solidFill>
                  <a:srgbClr val="2A2E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• Allow communication between travellers and include reviews/ratings.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6529" y="1145849"/>
            <a:ext cx="4260051" cy="213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PRODUCT FUNCTION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12455" y="1278890"/>
            <a:ext cx="9813290" cy="84950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245"/>
              </a:lnSpc>
            </a:pPr>
            <a:endParaRPr/>
          </a:p>
          <a:p>
            <a:pPr algn="l">
              <a:lnSpc>
                <a:spcPts val="3390"/>
              </a:lnSpc>
            </a:pP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TripConnect is a travel platform that makes trip planning, booking, and networking easy for travelers.</a:t>
            </a:r>
          </a:p>
          <a:p>
            <a:pPr algn="l">
              <a:lnSpc>
                <a:spcPts val="3390"/>
              </a:lnSpc>
            </a:pPr>
            <a:endParaRPr lang="en-US" sz="24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User Profiles 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Create and manage accounts with travel preferences and past trips.</a:t>
            </a:r>
          </a:p>
          <a:p>
            <a:pPr algn="l">
              <a:lnSpc>
                <a:spcPts val="3390"/>
              </a:lnSpc>
            </a:pPr>
            <a:endParaRPr lang="en-US" sz="24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Package Booking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Browse, view details, and book ready-made packages.</a:t>
            </a:r>
          </a:p>
          <a:p>
            <a:pPr algn="l">
              <a:lnSpc>
                <a:spcPts val="3390"/>
              </a:lnSpc>
            </a:pPr>
            <a:endParaRPr lang="en-US" sz="24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Custom Trips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Plan personalized itineraries based on budget and schedule.</a:t>
            </a:r>
          </a:p>
          <a:p>
            <a:pPr algn="l">
              <a:lnSpc>
                <a:spcPts val="3390"/>
              </a:lnSpc>
            </a:pPr>
            <a:endParaRPr lang="en-US" sz="24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Matchmaking &amp; Search 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Find and connect with travelers with similar interests and filter packages by need.</a:t>
            </a:r>
          </a:p>
          <a:p>
            <a:pPr algn="l">
              <a:lnSpc>
                <a:spcPts val="3390"/>
              </a:lnSpc>
            </a:pPr>
            <a:endParaRPr lang="en-US" sz="24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Notifications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–  Get alerts for bookings, updates, and messages.</a:t>
            </a:r>
          </a:p>
          <a:p>
            <a:pPr algn="l">
              <a:lnSpc>
                <a:spcPts val="3390"/>
              </a:lnSpc>
            </a:pPr>
            <a:endParaRPr lang="en-US" sz="24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Admin Tools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Manage users, trips, and packages while ensuring platform security.</a:t>
            </a:r>
          </a:p>
          <a:p>
            <a:pPr marL="523240" lvl="1" indent="-261620" algn="l">
              <a:lnSpc>
                <a:spcPts val="3390"/>
              </a:lnSpc>
              <a:buFont typeface="Arial" panose="020B0604020202020204"/>
              <a:buChar char="•"/>
            </a:pPr>
            <a:r>
              <a:rPr lang="en-US" sz="2420" b="1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Payments </a:t>
            </a:r>
            <a:r>
              <a:rPr lang="en-US" sz="24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Support secure online payments for bookings and trips.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467665"/>
            <a:chOff x="0" y="0"/>
            <a:chExt cx="24384000" cy="195688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7394" b="50560"/>
            <a:stretch>
              <a:fillRect/>
            </a:stretch>
          </p:blipFill>
          <p:spPr>
            <a:xfrm>
              <a:off x="0" y="0"/>
              <a:ext cx="24384000" cy="195688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209408"/>
            <a:ext cx="18288000" cy="9077592"/>
            <a:chOff x="0" y="0"/>
            <a:chExt cx="4816593" cy="23908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90806"/>
            </a:xfrm>
            <a:custGeom>
              <a:avLst/>
              <a:gdLst/>
              <a:ahLst/>
              <a:cxnLst/>
              <a:rect l="l" t="t" r="r" b="b"/>
              <a:pathLst>
                <a:path w="4816592" h="2390806">
                  <a:moveTo>
                    <a:pt x="0" y="0"/>
                  </a:moveTo>
                  <a:lnTo>
                    <a:pt x="4816592" y="0"/>
                  </a:lnTo>
                  <a:lnTo>
                    <a:pt x="4816592" y="2390806"/>
                  </a:lnTo>
                  <a:lnTo>
                    <a:pt x="0" y="239080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5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525" y="1738388"/>
            <a:ext cx="5603318" cy="6790518"/>
          </a:xfrm>
          <a:custGeom>
            <a:avLst/>
            <a:gdLst/>
            <a:ahLst/>
            <a:cxnLst/>
            <a:rect l="l" t="t" r="r" b="b"/>
            <a:pathLst>
              <a:path w="5603318" h="6790518">
                <a:moveTo>
                  <a:pt x="0" y="0"/>
                </a:moveTo>
                <a:lnTo>
                  <a:pt x="5603318" y="0"/>
                </a:lnTo>
                <a:lnTo>
                  <a:pt x="5603318" y="6790517"/>
                </a:lnTo>
                <a:lnTo>
                  <a:pt x="0" y="6790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77" r="-15986" b="-29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95391" y="1817911"/>
            <a:ext cx="6106000" cy="7440389"/>
          </a:xfrm>
          <a:custGeom>
            <a:avLst/>
            <a:gdLst/>
            <a:ahLst/>
            <a:cxnLst/>
            <a:rect l="l" t="t" r="r" b="b"/>
            <a:pathLst>
              <a:path w="6106000" h="7440389">
                <a:moveTo>
                  <a:pt x="0" y="0"/>
                </a:moveTo>
                <a:lnTo>
                  <a:pt x="6106000" y="0"/>
                </a:lnTo>
                <a:lnTo>
                  <a:pt x="6106000" y="7440389"/>
                </a:lnTo>
                <a:lnTo>
                  <a:pt x="0" y="7440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74" r="-3163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901391" y="1467665"/>
            <a:ext cx="6833951" cy="8211082"/>
          </a:xfrm>
          <a:custGeom>
            <a:avLst/>
            <a:gdLst/>
            <a:ahLst/>
            <a:cxnLst/>
            <a:rect l="l" t="t" r="r" b="b"/>
            <a:pathLst>
              <a:path w="6833951" h="8211082">
                <a:moveTo>
                  <a:pt x="0" y="0"/>
                </a:moveTo>
                <a:lnTo>
                  <a:pt x="6833951" y="0"/>
                </a:lnTo>
                <a:lnTo>
                  <a:pt x="6833951" y="8211082"/>
                </a:lnTo>
                <a:lnTo>
                  <a:pt x="0" y="8211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926" r="-1592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6048" y="-54242"/>
            <a:ext cx="10092890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 USE CASE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269201"/>
            <a:ext cx="18288000" cy="9017799"/>
            <a:chOff x="0" y="0"/>
            <a:chExt cx="4816593" cy="23750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75058"/>
            </a:xfrm>
            <a:custGeom>
              <a:avLst/>
              <a:gdLst/>
              <a:ahLst/>
              <a:cxnLst/>
              <a:rect l="l" t="t" r="r" b="b"/>
              <a:pathLst>
                <a:path w="4816592" h="2375058">
                  <a:moveTo>
                    <a:pt x="0" y="0"/>
                  </a:moveTo>
                  <a:lnTo>
                    <a:pt x="4816592" y="0"/>
                  </a:lnTo>
                  <a:lnTo>
                    <a:pt x="4816592" y="2375058"/>
                  </a:lnTo>
                  <a:lnTo>
                    <a:pt x="0" y="237505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41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035380" y="4645343"/>
          <a:ext cx="6604347" cy="4157103"/>
        </p:xfrm>
        <a:graphic>
          <a:graphicData uri="http://schemas.openxmlformats.org/drawingml/2006/table">
            <a:tbl>
              <a:tblPr/>
              <a:tblGrid>
                <a:gridCol w="521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3294991" y="5551"/>
            <a:ext cx="12034147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HARDWARE INTERFACES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064" y="904875"/>
            <a:ext cx="18119936" cy="889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 b="1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TripConnect</a:t>
            </a: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is a software platform accessed via standard computing and mobile devices. The system does not require any specialized hardware. The hardware interface considerations are as follows: </a:t>
            </a:r>
          </a:p>
          <a:p>
            <a:pPr marL="723265" lvl="1" indent="-361315" algn="l">
              <a:lnSpc>
                <a:spcPts val="4690"/>
              </a:lnSpc>
              <a:buFont typeface="Arial" panose="020B0604020202020204"/>
              <a:buChar char="•"/>
            </a:pPr>
            <a:r>
              <a:rPr lang="en-US" sz="3350" b="1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 User Devices 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Supported devices include desktops, laptops, tablets, and smartphones. 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Interfaces are standard input/output devices: touchscreen, keyboard, mouse. </a:t>
            </a:r>
          </a:p>
          <a:p>
            <a:pPr marL="723265" lvl="1" indent="-361315" algn="l">
              <a:lnSpc>
                <a:spcPts val="4690"/>
              </a:lnSpc>
              <a:buFont typeface="Arial" panose="020B0604020202020204"/>
              <a:buChar char="•"/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3350" b="1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Networking Hardware 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Requires standard network connectivity (Wi-Fi, 4G/5G, Ethernet) to access the platform. 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Communication occurs over standard web protocols (HTTP/HTTPS). </a:t>
            </a:r>
          </a:p>
          <a:p>
            <a:pPr marL="723265" lvl="1" indent="-361315" algn="l">
              <a:lnSpc>
                <a:spcPts val="4690"/>
              </a:lnSpc>
              <a:buFont typeface="Arial" panose="020B0604020202020204"/>
              <a:buChar char="•"/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350" b="1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 Payment Processing 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Interacts with online payment gateways via the internet. </a:t>
            </a:r>
          </a:p>
          <a:p>
            <a:pPr algn="l">
              <a:lnSpc>
                <a:spcPts val="4690"/>
              </a:lnSpc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No direct connection to physical card readers or other specialized payment hardware is needed. </a:t>
            </a:r>
            <a:r>
              <a:rPr lang="en-US" sz="3350" b="1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    Conclusion</a:t>
            </a: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3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TripConnect has no dedicated hardware interface requirements beyond standard computing devices and network connectivity.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322212"/>
            <a:ext cx="18288000" cy="8964788"/>
            <a:chOff x="0" y="0"/>
            <a:chExt cx="4816593" cy="2361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61096"/>
            </a:xfrm>
            <a:custGeom>
              <a:avLst/>
              <a:gdLst/>
              <a:ahLst/>
              <a:cxnLst/>
              <a:rect l="l" t="t" r="r" b="b"/>
              <a:pathLst>
                <a:path w="4816592" h="2361096">
                  <a:moveTo>
                    <a:pt x="0" y="0"/>
                  </a:moveTo>
                  <a:lnTo>
                    <a:pt x="4816592" y="0"/>
                  </a:lnTo>
                  <a:lnTo>
                    <a:pt x="4816592" y="2361096"/>
                  </a:lnTo>
                  <a:lnTo>
                    <a:pt x="0" y="236109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27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647029" y="4645343"/>
          <a:ext cx="6604347" cy="4157103"/>
        </p:xfrm>
        <a:graphic>
          <a:graphicData uri="http://schemas.openxmlformats.org/drawingml/2006/table">
            <a:tbl>
              <a:tblPr/>
              <a:tblGrid>
                <a:gridCol w="521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3840471" y="58562"/>
            <a:ext cx="11613116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SOFTWARE INTERFACES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25" y="1188862"/>
            <a:ext cx="18288000" cy="8124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endParaRPr/>
          </a:p>
          <a:p>
            <a:pPr algn="l">
              <a:lnSpc>
                <a:spcPts val="4950"/>
              </a:lnSpc>
            </a:pPr>
            <a:endParaRPr/>
          </a:p>
          <a:p>
            <a:pPr marL="763270" lvl="1" indent="-381635" algn="l">
              <a:lnSpc>
                <a:spcPts val="4950"/>
              </a:lnSpc>
              <a:buFont typeface="Arial" panose="020B0604020202020204"/>
              <a:buChar char="•"/>
            </a:pPr>
            <a:r>
              <a:rPr lang="en-US" sz="3535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MongoDB</a:t>
            </a:r>
            <a:r>
              <a:rPr lang="en-US" sz="353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Serves as the primary database for storing user details, packages, groups, payments, chats, and travel history. Communication is handled via the MongoDB Node.js driver with data exchanged in   BSON/JSON format. </a:t>
            </a:r>
          </a:p>
          <a:p>
            <a:pPr algn="l">
              <a:lnSpc>
                <a:spcPts val="4950"/>
              </a:lnSpc>
            </a:pPr>
            <a:endParaRPr lang="en-US" sz="353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3270" lvl="1" indent="-381635" algn="l">
              <a:lnSpc>
                <a:spcPts val="4950"/>
              </a:lnSpc>
              <a:buFont typeface="Arial" panose="020B0604020202020204"/>
              <a:buChar char="•"/>
            </a:pPr>
            <a:r>
              <a:rPr lang="en-US" sz="3535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Stripe API</a:t>
            </a:r>
            <a:r>
              <a:rPr lang="en-US" sz="353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Provides secure online payment processing for bookings, cancellations, and refunds. Interaction occurs through REST APIs over HTTPS, with requests and responses formatted in JSON, ensuring safe and reliable transactions.</a:t>
            </a:r>
          </a:p>
          <a:p>
            <a:pPr algn="l">
              <a:lnSpc>
                <a:spcPts val="4950"/>
              </a:lnSpc>
            </a:pPr>
            <a:endParaRPr lang="en-US" sz="353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3270" lvl="1" indent="-381635" algn="l">
              <a:lnSpc>
                <a:spcPts val="4950"/>
              </a:lnSpc>
              <a:buFont typeface="Arial" panose="020B0604020202020204"/>
              <a:buChar char="•"/>
            </a:pPr>
            <a:r>
              <a:rPr lang="en-US" sz="3535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Google Maps API</a:t>
            </a:r>
            <a:r>
              <a:rPr lang="en-US" sz="353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 Enables TripConnect to display destinations, routes, and itineraries. The system communicates with the API using HTTPS requests and receives JSON-formatted responses to visualize trip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3219949"/>
            <a:ext cx="18288000" cy="7067051"/>
            <a:chOff x="0" y="0"/>
            <a:chExt cx="4816593" cy="18612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861281"/>
            </a:xfrm>
            <a:custGeom>
              <a:avLst/>
              <a:gdLst/>
              <a:ahLst/>
              <a:cxnLst/>
              <a:rect l="l" t="t" r="r" b="b"/>
              <a:pathLst>
                <a:path w="4816592" h="1861281">
                  <a:moveTo>
                    <a:pt x="0" y="0"/>
                  </a:moveTo>
                  <a:lnTo>
                    <a:pt x="4816592" y="0"/>
                  </a:lnTo>
                  <a:lnTo>
                    <a:pt x="4816592" y="1861281"/>
                  </a:lnTo>
                  <a:lnTo>
                    <a:pt x="0" y="186128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927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39504" y="1042848"/>
            <a:ext cx="9008992" cy="164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30"/>
              </a:lnSpc>
            </a:pPr>
            <a:r>
              <a:rPr lang="en-US" sz="91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TECH STACK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5" y="3592139"/>
            <a:ext cx="18288000" cy="606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5"/>
              </a:lnSpc>
            </a:pPr>
            <a:r>
              <a:rPr lang="en-US" sz="446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TripConnect website will be built using the following key   </a:t>
            </a:r>
          </a:p>
          <a:p>
            <a:pPr algn="l">
              <a:lnSpc>
                <a:spcPts val="6245"/>
              </a:lnSpc>
            </a:pPr>
            <a:r>
              <a:rPr lang="en-US" sz="446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technologies: </a:t>
            </a:r>
          </a:p>
          <a:p>
            <a:pPr algn="l">
              <a:lnSpc>
                <a:spcPts val="4955"/>
              </a:lnSpc>
            </a:pPr>
            <a:endParaRPr lang="en-US" sz="446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85495" lvl="1" indent="-393065" algn="l">
              <a:lnSpc>
                <a:spcPts val="5095"/>
              </a:lnSpc>
              <a:buFont typeface="Arial" panose="020B0604020202020204"/>
              <a:buChar char="•"/>
            </a:pPr>
            <a:r>
              <a:rPr lang="en-US" sz="36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  <a:r>
              <a:rPr lang="en-US" sz="3640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FRONTEND TOOLS</a:t>
            </a:r>
            <a:r>
              <a:rPr lang="en-US" sz="36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  React.js / Redux / Material UI / Axios. </a:t>
            </a:r>
          </a:p>
          <a:p>
            <a:pPr algn="l">
              <a:lnSpc>
                <a:spcPts val="4955"/>
              </a:lnSpc>
            </a:pPr>
            <a:r>
              <a:rPr lang="en-US" sz="35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marL="764540" lvl="1" indent="-382270" algn="l">
              <a:lnSpc>
                <a:spcPts val="4955"/>
              </a:lnSpc>
              <a:buFont typeface="Arial" panose="020B0604020202020204"/>
              <a:buChar char="•"/>
            </a:pPr>
            <a:r>
              <a:rPr lang="en-US" sz="35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</a:t>
            </a:r>
            <a:r>
              <a:rPr lang="en-US" sz="3540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BACKEND TOOLS</a:t>
            </a:r>
            <a:r>
              <a:rPr lang="en-US" sz="35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  Node.js / Express.js / Mongoose / MongoDB. </a:t>
            </a:r>
          </a:p>
          <a:p>
            <a:pPr algn="l">
              <a:lnSpc>
                <a:spcPts val="4955"/>
              </a:lnSpc>
            </a:pPr>
            <a:r>
              <a:rPr lang="en-US" sz="35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marL="764540" lvl="1" indent="-382270" algn="l">
              <a:lnSpc>
                <a:spcPts val="4955"/>
              </a:lnSpc>
              <a:buFont typeface="Arial" panose="020B0604020202020204"/>
              <a:buChar char="•"/>
            </a:pPr>
            <a:r>
              <a:rPr lang="en-US" sz="35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US" sz="3540" u="sng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OTHER TOOLS AND TECHNOLOGIES</a:t>
            </a:r>
            <a:r>
              <a:rPr lang="en-US" sz="354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  Stripe API / Twilio / Socket IO / Navigation / AI-ML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201"/>
            <a:ext cx="18288000" cy="1177585"/>
            <a:chOff x="0" y="0"/>
            <a:chExt cx="24384000" cy="157011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8584" b="51750"/>
            <a:stretch>
              <a:fillRect/>
            </a:stretch>
          </p:blipFill>
          <p:spPr>
            <a:xfrm>
              <a:off x="0" y="0"/>
              <a:ext cx="24384000" cy="157011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452323"/>
            <a:ext cx="18288000" cy="8834677"/>
            <a:chOff x="0" y="0"/>
            <a:chExt cx="4816593" cy="23268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26828"/>
            </a:xfrm>
            <a:custGeom>
              <a:avLst/>
              <a:gdLst/>
              <a:ahLst/>
              <a:cxnLst/>
              <a:rect l="l" t="t" r="r" b="b"/>
              <a:pathLst>
                <a:path w="4816592" h="2326828">
                  <a:moveTo>
                    <a:pt x="0" y="0"/>
                  </a:moveTo>
                  <a:lnTo>
                    <a:pt x="4816592" y="0"/>
                  </a:lnTo>
                  <a:lnTo>
                    <a:pt x="4816592" y="2326828"/>
                  </a:lnTo>
                  <a:lnTo>
                    <a:pt x="0" y="232682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93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795342" y="1735408"/>
            <a:ext cx="13475798" cy="8332530"/>
          </a:xfrm>
          <a:custGeom>
            <a:avLst/>
            <a:gdLst/>
            <a:ahLst/>
            <a:cxnLst/>
            <a:rect l="l" t="t" r="r" b="b"/>
            <a:pathLst>
              <a:path w="13475798" h="8332530">
                <a:moveTo>
                  <a:pt x="0" y="0"/>
                </a:moveTo>
                <a:lnTo>
                  <a:pt x="13475798" y="0"/>
                </a:lnTo>
                <a:lnTo>
                  <a:pt x="13475798" y="8332530"/>
                </a:lnTo>
                <a:lnTo>
                  <a:pt x="0" y="833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036" b="-245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26348" y="142238"/>
            <a:ext cx="6235303" cy="13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DFD - LEVEL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54194"/>
            <a:chOff x="0" y="0"/>
            <a:chExt cx="4816593" cy="4620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62010"/>
            </a:xfrm>
            <a:custGeom>
              <a:avLst/>
              <a:gdLst/>
              <a:ahLst/>
              <a:cxnLst/>
              <a:rect l="l" t="t" r="r" b="b"/>
              <a:pathLst>
                <a:path w="4816592" h="462010">
                  <a:moveTo>
                    <a:pt x="0" y="0"/>
                  </a:moveTo>
                  <a:lnTo>
                    <a:pt x="4816592" y="0"/>
                  </a:lnTo>
                  <a:lnTo>
                    <a:pt x="4816592" y="462010"/>
                  </a:lnTo>
                  <a:lnTo>
                    <a:pt x="0" y="462010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528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660901"/>
            <a:chOff x="0" y="0"/>
            <a:chExt cx="24384000" cy="221453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46972" b="46972"/>
            <a:stretch>
              <a:fillRect/>
            </a:stretch>
          </p:blipFill>
          <p:spPr>
            <a:xfrm>
              <a:off x="0" y="0"/>
              <a:ext cx="24384000" cy="2214534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>
            <a:off x="2366916" y="2157390"/>
            <a:ext cx="13676077" cy="8129610"/>
          </a:xfrm>
          <a:custGeom>
            <a:avLst/>
            <a:gdLst/>
            <a:ahLst/>
            <a:cxnLst/>
            <a:rect l="l" t="t" r="r" b="b"/>
            <a:pathLst>
              <a:path w="13676077" h="8129610">
                <a:moveTo>
                  <a:pt x="0" y="0"/>
                </a:moveTo>
                <a:lnTo>
                  <a:pt x="13676077" y="0"/>
                </a:lnTo>
                <a:lnTo>
                  <a:pt x="13676077" y="8129610"/>
                </a:lnTo>
                <a:lnTo>
                  <a:pt x="0" y="8129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" r="-3389" b="-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34652" y="-61924"/>
            <a:ext cx="12418695" cy="172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65"/>
              </a:lnSpc>
              <a:spcBef>
                <a:spcPct val="0"/>
              </a:spcBef>
            </a:pPr>
            <a:r>
              <a:rPr lang="en-US" sz="9045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ACTIVITY DIAGRAMS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71574" y="2592479"/>
            <a:ext cx="332411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 u="sng">
                <a:solidFill>
                  <a:srgbClr val="000000"/>
                </a:solidFill>
                <a:latin typeface="Helios Bold" panose="020B0704020202020204"/>
                <a:ea typeface="Helios Bold" panose="020B0704020202020204"/>
                <a:cs typeface="Helios Bold" panose="020B0704020202020204"/>
                <a:sym typeface="Helios Bold" panose="020B0704020202020204"/>
              </a:rPr>
              <a:t>GUEST VISITOR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201"/>
            <a:ext cx="18288000" cy="1177585"/>
            <a:chOff x="0" y="0"/>
            <a:chExt cx="24384000" cy="157011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8584" b="51750"/>
            <a:stretch>
              <a:fillRect/>
            </a:stretch>
          </p:blipFill>
          <p:spPr>
            <a:xfrm>
              <a:off x="0" y="0"/>
              <a:ext cx="24384000" cy="157011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611993"/>
            <a:ext cx="18288000" cy="9675007"/>
            <a:chOff x="0" y="0"/>
            <a:chExt cx="4816593" cy="2548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548150"/>
            </a:xfrm>
            <a:custGeom>
              <a:avLst/>
              <a:gdLst/>
              <a:ahLst/>
              <a:cxnLst/>
              <a:rect l="l" t="t" r="r" b="b"/>
              <a:pathLst>
                <a:path w="4816592" h="2548150">
                  <a:moveTo>
                    <a:pt x="0" y="0"/>
                  </a:moveTo>
                  <a:lnTo>
                    <a:pt x="4816592" y="0"/>
                  </a:lnTo>
                  <a:lnTo>
                    <a:pt x="4816592" y="2548150"/>
                  </a:lnTo>
                  <a:lnTo>
                    <a:pt x="0" y="25481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614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>
            <a:hlinkClick r:id="rId3" action="ppaction://hlinkfile"/>
          </p:cNvPr>
          <p:cNvSpPr/>
          <p:nvPr/>
        </p:nvSpPr>
        <p:spPr>
          <a:xfrm>
            <a:off x="6202680" y="615315"/>
            <a:ext cx="7423150" cy="9671685"/>
          </a:xfrm>
          <a:custGeom>
            <a:avLst/>
            <a:gdLst/>
            <a:ahLst/>
            <a:cxnLst/>
            <a:rect l="l" t="t" r="r" b="b"/>
            <a:pathLst>
              <a:path w="3794666" h="9671938">
                <a:moveTo>
                  <a:pt x="0" y="0"/>
                </a:moveTo>
                <a:lnTo>
                  <a:pt x="3794666" y="0"/>
                </a:lnTo>
                <a:lnTo>
                  <a:pt x="3794666" y="9671938"/>
                </a:lnTo>
                <a:lnTo>
                  <a:pt x="0" y="9671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" r="-20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86133" y="1019811"/>
            <a:ext cx="2055166" cy="890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0"/>
              </a:lnSpc>
              <a:spcBef>
                <a:spcPct val="0"/>
              </a:spcBef>
            </a:pPr>
            <a:r>
              <a:rPr lang="en-US" sz="4685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USER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38050"/>
            <a:chOff x="0" y="0"/>
            <a:chExt cx="24384000" cy="165073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8336" b="51502"/>
            <a:stretch>
              <a:fillRect/>
            </a:stretch>
          </p:blipFill>
          <p:spPr>
            <a:xfrm>
              <a:off x="0" y="0"/>
              <a:ext cx="24384000" cy="165073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228621" y="1282065"/>
            <a:ext cx="18709661" cy="9984495"/>
            <a:chOff x="0" y="0"/>
            <a:chExt cx="4927647" cy="26296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27647" cy="2629661"/>
            </a:xfrm>
            <a:custGeom>
              <a:avLst/>
              <a:gdLst/>
              <a:ahLst/>
              <a:cxnLst/>
              <a:rect l="l" t="t" r="r" b="b"/>
              <a:pathLst>
                <a:path w="4927647" h="2629661">
                  <a:moveTo>
                    <a:pt x="0" y="0"/>
                  </a:moveTo>
                  <a:lnTo>
                    <a:pt x="4927647" y="0"/>
                  </a:lnTo>
                  <a:lnTo>
                    <a:pt x="4927647" y="2629661"/>
                  </a:lnTo>
                  <a:lnTo>
                    <a:pt x="0" y="262966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927647" cy="2696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9" name="Picture 8" descr="WhatsApp Image 2025-09-22 at 11.27.14 PM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85" y="1528445"/>
            <a:ext cx="17688560" cy="878713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099185" y="2082800"/>
            <a:ext cx="12616815" cy="3421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41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467665"/>
            <a:ext cx="18288000" cy="8819335"/>
            <a:chOff x="0" y="0"/>
            <a:chExt cx="4816593" cy="2322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22788"/>
            </a:xfrm>
            <a:custGeom>
              <a:avLst/>
              <a:gdLst/>
              <a:ahLst/>
              <a:cxnLst/>
              <a:rect l="l" t="t" r="r" b="b"/>
              <a:pathLst>
                <a:path w="4816592" h="2322788">
                  <a:moveTo>
                    <a:pt x="0" y="0"/>
                  </a:moveTo>
                  <a:lnTo>
                    <a:pt x="4816592" y="0"/>
                  </a:lnTo>
                  <a:lnTo>
                    <a:pt x="4816592" y="2322788"/>
                  </a:lnTo>
                  <a:lnTo>
                    <a:pt x="0" y="23227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89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50492" y="39203"/>
            <a:ext cx="11251474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SEQUENCE DIAGRAMS</a:t>
            </a:r>
          </a:p>
        </p:txBody>
      </p:sp>
      <p:sp>
        <p:nvSpPr>
          <p:cNvPr id="9" name="Freeform 9"/>
          <p:cNvSpPr/>
          <p:nvPr/>
        </p:nvSpPr>
        <p:spPr>
          <a:xfrm>
            <a:off x="6058491" y="1467665"/>
            <a:ext cx="6660692" cy="8819335"/>
          </a:xfrm>
          <a:custGeom>
            <a:avLst/>
            <a:gdLst/>
            <a:ahLst/>
            <a:cxnLst/>
            <a:rect l="l" t="t" r="r" b="b"/>
            <a:pathLst>
              <a:path w="6660692" h="8819335">
                <a:moveTo>
                  <a:pt x="0" y="0"/>
                </a:moveTo>
                <a:lnTo>
                  <a:pt x="6660692" y="0"/>
                </a:lnTo>
                <a:lnTo>
                  <a:pt x="6660692" y="8819335"/>
                </a:lnTo>
                <a:lnTo>
                  <a:pt x="0" y="8819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50" t="-744" r="-1101" b="-74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17381" y="1638738"/>
            <a:ext cx="2964846" cy="91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5"/>
              </a:lnSpc>
            </a:pPr>
            <a:r>
              <a:rPr lang="en-US" sz="479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Visitor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action="ppaction://hlinkfile"/>
          </p:cNvPr>
          <p:cNvSpPr/>
          <p:nvPr/>
        </p:nvSpPr>
        <p:spPr>
          <a:xfrm>
            <a:off x="3770500" y="317362"/>
            <a:ext cx="11167337" cy="9586831"/>
          </a:xfrm>
          <a:custGeom>
            <a:avLst/>
            <a:gdLst/>
            <a:ahLst/>
            <a:cxnLst/>
            <a:rect l="l" t="t" r="r" b="b"/>
            <a:pathLst>
              <a:path w="11167337" h="9586831">
                <a:moveTo>
                  <a:pt x="0" y="0"/>
                </a:moveTo>
                <a:lnTo>
                  <a:pt x="11167337" y="0"/>
                </a:lnTo>
                <a:lnTo>
                  <a:pt x="11167337" y="9586831"/>
                </a:lnTo>
                <a:lnTo>
                  <a:pt x="0" y="9586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0" t="-1843" r="-61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5654" y="1329658"/>
            <a:ext cx="2964846" cy="91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5"/>
              </a:lnSpc>
            </a:pPr>
            <a:r>
              <a:rPr lang="en-US" sz="481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User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action="ppaction://hlinkfile"/>
          </p:cNvPr>
          <p:cNvSpPr/>
          <p:nvPr/>
        </p:nvSpPr>
        <p:spPr>
          <a:xfrm>
            <a:off x="4017010" y="280035"/>
            <a:ext cx="9383395" cy="10023475"/>
          </a:xfrm>
          <a:custGeom>
            <a:avLst/>
            <a:gdLst/>
            <a:ahLst/>
            <a:cxnLst/>
            <a:rect l="l" t="t" r="r" b="b"/>
            <a:pathLst>
              <a:path w="9383310" h="10287000">
                <a:moveTo>
                  <a:pt x="0" y="0"/>
                </a:moveTo>
                <a:lnTo>
                  <a:pt x="9383309" y="0"/>
                </a:lnTo>
                <a:lnTo>
                  <a:pt x="938330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32" r="-2206" b="-1505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action="ppaction://hlinkfile"/>
          </p:cNvPr>
          <p:cNvSpPr/>
          <p:nvPr/>
        </p:nvSpPr>
        <p:spPr>
          <a:xfrm>
            <a:off x="6545264" y="453175"/>
            <a:ext cx="6216325" cy="9577848"/>
          </a:xfrm>
          <a:custGeom>
            <a:avLst/>
            <a:gdLst/>
            <a:ahLst/>
            <a:cxnLst/>
            <a:rect l="l" t="t" r="r" b="b"/>
            <a:pathLst>
              <a:path w="6216325" h="9577848">
                <a:moveTo>
                  <a:pt x="0" y="0"/>
                </a:moveTo>
                <a:lnTo>
                  <a:pt x="6216325" y="0"/>
                </a:lnTo>
                <a:lnTo>
                  <a:pt x="6216325" y="9577848"/>
                </a:lnTo>
                <a:lnTo>
                  <a:pt x="0" y="9577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5" r="-79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47899" y="1436546"/>
            <a:ext cx="2964846" cy="89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5"/>
              </a:lnSpc>
            </a:pPr>
            <a:r>
              <a:rPr lang="en-US" sz="471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Admin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action="ppaction://hlinkfile"/>
          </p:cNvPr>
          <p:cNvSpPr/>
          <p:nvPr/>
        </p:nvSpPr>
        <p:spPr>
          <a:xfrm>
            <a:off x="6107064" y="207892"/>
            <a:ext cx="6073872" cy="9871216"/>
          </a:xfrm>
          <a:custGeom>
            <a:avLst/>
            <a:gdLst/>
            <a:ahLst/>
            <a:cxnLst/>
            <a:rect l="l" t="t" r="r" b="b"/>
            <a:pathLst>
              <a:path w="6073872" h="9871216">
                <a:moveTo>
                  <a:pt x="0" y="0"/>
                </a:moveTo>
                <a:lnTo>
                  <a:pt x="6073872" y="0"/>
                </a:lnTo>
                <a:lnTo>
                  <a:pt x="6073872" y="9871216"/>
                </a:lnTo>
                <a:lnTo>
                  <a:pt x="0" y="987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" r="-90" b="-4038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735408"/>
            <a:chOff x="0" y="0"/>
            <a:chExt cx="24384000" cy="231387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6295" b="49461"/>
            <a:stretch>
              <a:fillRect/>
            </a:stretch>
          </p:blipFill>
          <p:spPr>
            <a:xfrm>
              <a:off x="0" y="0"/>
              <a:ext cx="24384000" cy="231387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560513"/>
            <a:ext cx="18288000" cy="8726487"/>
            <a:chOff x="0" y="0"/>
            <a:chExt cx="4816593" cy="22983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298334"/>
            </a:xfrm>
            <a:custGeom>
              <a:avLst/>
              <a:gdLst/>
              <a:ahLst/>
              <a:cxnLst/>
              <a:rect l="l" t="t" r="r" b="b"/>
              <a:pathLst>
                <a:path w="4816592" h="2298334">
                  <a:moveTo>
                    <a:pt x="0" y="0"/>
                  </a:moveTo>
                  <a:lnTo>
                    <a:pt x="4816592" y="0"/>
                  </a:lnTo>
                  <a:lnTo>
                    <a:pt x="4816592" y="2298334"/>
                  </a:lnTo>
                  <a:lnTo>
                    <a:pt x="0" y="2298334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6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73652" y="94909"/>
            <a:ext cx="10539525" cy="136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5"/>
              </a:lnSpc>
            </a:pPr>
            <a:r>
              <a:rPr lang="en-US" sz="754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Class Diagram</a:t>
            </a:r>
          </a:p>
        </p:txBody>
      </p:sp>
      <p:sp>
        <p:nvSpPr>
          <p:cNvPr id="9" name="Freeform 9">
            <a:hlinkClick r:id="rId3" action="ppaction://hlinkfile"/>
          </p:cNvPr>
          <p:cNvSpPr/>
          <p:nvPr/>
        </p:nvSpPr>
        <p:spPr>
          <a:xfrm>
            <a:off x="3851910" y="1714500"/>
            <a:ext cx="9648190" cy="8341995"/>
          </a:xfrm>
          <a:custGeom>
            <a:avLst/>
            <a:gdLst/>
            <a:ahLst/>
            <a:cxnLst/>
            <a:rect l="l" t="t" r="r" b="b"/>
            <a:pathLst>
              <a:path w="7211433" h="8726487">
                <a:moveTo>
                  <a:pt x="0" y="0"/>
                </a:moveTo>
                <a:lnTo>
                  <a:pt x="7211433" y="0"/>
                </a:lnTo>
                <a:lnTo>
                  <a:pt x="7211433" y="8726487"/>
                </a:lnTo>
                <a:lnTo>
                  <a:pt x="0" y="8726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26" r="-1718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9525" y="1293635"/>
            <a:ext cx="18288000" cy="8993365"/>
            <a:chOff x="0" y="0"/>
            <a:chExt cx="4816593" cy="23686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68623"/>
            </a:xfrm>
            <a:custGeom>
              <a:avLst/>
              <a:gdLst/>
              <a:ahLst/>
              <a:cxnLst/>
              <a:rect l="l" t="t" r="r" b="b"/>
              <a:pathLst>
                <a:path w="4816592" h="2368623">
                  <a:moveTo>
                    <a:pt x="0" y="0"/>
                  </a:moveTo>
                  <a:lnTo>
                    <a:pt x="4816592" y="0"/>
                  </a:lnTo>
                  <a:lnTo>
                    <a:pt x="4816592" y="2368623"/>
                  </a:lnTo>
                  <a:lnTo>
                    <a:pt x="0" y="2368623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3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9"/>
          <p:cNvSpPr txBox="1"/>
          <p:nvPr/>
        </p:nvSpPr>
        <p:spPr>
          <a:xfrm>
            <a:off x="4395417" y="-5575"/>
            <a:ext cx="9008992" cy="129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2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330023" y="1781782"/>
            <a:ext cx="2178348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USER TABLE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8892095" y="1781782"/>
            <a:ext cx="1086842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TRIPS </a:t>
            </a:r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896490"/>
              </p:ext>
            </p:extLst>
          </p:nvPr>
        </p:nvGraphicFramePr>
        <p:xfrm>
          <a:off x="457200" y="2557145"/>
          <a:ext cx="7948930" cy="7384415"/>
        </p:xfrm>
        <a:graphic>
          <a:graphicData uri="http://schemas.openxmlformats.org/drawingml/2006/table">
            <a:tbl>
              <a:tblPr/>
              <a:tblGrid>
                <a:gridCol w="265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5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Type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Description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name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User’s full name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email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 (Unique)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User’s email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phone number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 (Unique)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User’s phone 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password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Hashed password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profile picture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Path to profile image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dob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Date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Date of birth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gender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Enum(‘Male’,’Female’,’Other’)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Gender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bio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Biography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location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Location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stamin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Boolean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Admin status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last login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Last login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418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is_active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Boolean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Active status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failed_attempts</a:t>
                      </a:r>
                      <a:r>
                        <a:rPr sz="20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>
                          <a:latin typeface="Times New Roman" panose="02020603050405020304"/>
                          <a:ea typeface="Calibri" panose="020F0502020204030204"/>
                        </a:rPr>
                        <a:t>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i="1" dirty="0">
                          <a:latin typeface="Times New Roman" panose="02020603050405020304"/>
                          <a:ea typeface="Calibri" panose="020F0502020204030204"/>
                        </a:rPr>
                        <a:t>Failed login attempts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8991600" y="2599055"/>
          <a:ext cx="8833485" cy="7508875"/>
        </p:xfrm>
        <a:graphic>
          <a:graphicData uri="http://schemas.openxmlformats.org/drawingml/2006/table">
            <a:tbl>
              <a:tblPr/>
              <a:tblGrid>
                <a:gridCol w="294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Type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Description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preference_id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 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17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destination_type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Preferred destination type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0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budget_range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Budget range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698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travel_type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Enum (‘Solo’,’Group’,’Family’)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 of travel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680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interests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User’s travel interests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9525" y="1297419"/>
            <a:ext cx="18288000" cy="8989581"/>
            <a:chOff x="0" y="0"/>
            <a:chExt cx="4816593" cy="2367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67626"/>
            </a:xfrm>
            <a:custGeom>
              <a:avLst/>
              <a:gdLst/>
              <a:ahLst/>
              <a:cxnLst/>
              <a:rect l="l" t="t" r="r" b="b"/>
              <a:pathLst>
                <a:path w="4816592" h="2367626">
                  <a:moveTo>
                    <a:pt x="0" y="0"/>
                  </a:moveTo>
                  <a:lnTo>
                    <a:pt x="4816592" y="0"/>
                  </a:lnTo>
                  <a:lnTo>
                    <a:pt x="4816592" y="2367626"/>
                  </a:lnTo>
                  <a:lnTo>
                    <a:pt x="0" y="236762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3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9"/>
          <p:cNvSpPr txBox="1"/>
          <p:nvPr/>
        </p:nvSpPr>
        <p:spPr>
          <a:xfrm>
            <a:off x="4378928" y="33769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521660" y="2297666"/>
            <a:ext cx="3769519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TRAVEL PREFERENCE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9683750" y="2297430"/>
            <a:ext cx="1604645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GROUPS</a:t>
            </a:r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379095" y="3072765"/>
          <a:ext cx="7547610" cy="5873371"/>
        </p:xfrm>
        <a:graphic>
          <a:graphicData uri="http://schemas.openxmlformats.org/drawingml/2006/table">
            <a:tbl>
              <a:tblPr/>
              <a:tblGrid>
                <a:gridCol w="2515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9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Type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Description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7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preference_id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9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 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destination_type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Preferred destination type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budget_range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Budget range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54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travel_type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Enum (‘Solo’,’Group’,’Family’)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 of travel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9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interests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User’s travel interests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9555480" y="2901315"/>
          <a:ext cx="7383780" cy="5885815"/>
        </p:xfrm>
        <a:graphic>
          <a:graphicData uri="http://schemas.openxmlformats.org/drawingml/2006/table">
            <a:tbl>
              <a:tblPr/>
              <a:tblGrid>
                <a:gridCol w="246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Type 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Description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33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group_id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created_by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Creator user interface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03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Group description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no_of_members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of members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created_at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Creation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85725" y="1232675"/>
            <a:ext cx="18288000" cy="9054325"/>
            <a:chOff x="0" y="0"/>
            <a:chExt cx="4816593" cy="23846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84678"/>
            </a:xfrm>
            <a:custGeom>
              <a:avLst/>
              <a:gdLst/>
              <a:ahLst/>
              <a:cxnLst/>
              <a:rect l="l" t="t" r="r" b="b"/>
              <a:pathLst>
                <a:path w="4816592" h="2384678">
                  <a:moveTo>
                    <a:pt x="0" y="0"/>
                  </a:moveTo>
                  <a:lnTo>
                    <a:pt x="4816592" y="0"/>
                  </a:lnTo>
                  <a:lnTo>
                    <a:pt x="4816592" y="2384678"/>
                  </a:lnTo>
                  <a:lnTo>
                    <a:pt x="0" y="238467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51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9"/>
          <p:cNvSpPr txBox="1"/>
          <p:nvPr/>
        </p:nvSpPr>
        <p:spPr>
          <a:xfrm>
            <a:off x="4116461" y="-30975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544629" y="2681232"/>
            <a:ext cx="2538810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GROUP CHATS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10405745" y="2647950"/>
            <a:ext cx="2818765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MATCHMAKING </a:t>
            </a:r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526415" y="3412490"/>
          <a:ext cx="8001000" cy="646747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Type 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Description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group_id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created_by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Creator user interface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Group description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no_of_members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of members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created_at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Creation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9820275" y="3440430"/>
          <a:ext cx="7652385" cy="6350000"/>
        </p:xfrm>
        <a:graphic>
          <a:graphicData uri="http://schemas.openxmlformats.org/drawingml/2006/table">
            <a:tbl>
              <a:tblPr/>
              <a:tblGrid>
                <a:gridCol w="255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match_id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travel_pref_id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Number(Ref:travel_preferences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Travel preference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467665"/>
            <a:ext cx="18288000" cy="8819335"/>
            <a:chOff x="0" y="0"/>
            <a:chExt cx="4816593" cy="2322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22788"/>
            </a:xfrm>
            <a:custGeom>
              <a:avLst/>
              <a:gdLst/>
              <a:ahLst/>
              <a:cxnLst/>
              <a:rect l="l" t="t" r="r" b="b"/>
              <a:pathLst>
                <a:path w="4816592" h="2322788">
                  <a:moveTo>
                    <a:pt x="0" y="0"/>
                  </a:moveTo>
                  <a:lnTo>
                    <a:pt x="4816592" y="0"/>
                  </a:lnTo>
                  <a:lnTo>
                    <a:pt x="4816592" y="2322788"/>
                  </a:lnTo>
                  <a:lnTo>
                    <a:pt x="0" y="23227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89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9"/>
          <p:cNvSpPr txBox="1"/>
          <p:nvPr/>
        </p:nvSpPr>
        <p:spPr>
          <a:xfrm>
            <a:off x="4430287" y="204015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532828" y="2276434"/>
            <a:ext cx="1855788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PACKAGES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9603771" y="2276434"/>
            <a:ext cx="2538810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GROUP CHATS </a:t>
            </a:r>
          </a:p>
        </p:txBody>
      </p:sp>
      <p:graphicFrame>
        <p:nvGraphicFramePr>
          <p:cNvPr id="15" name="Table 14"/>
          <p:cNvGraphicFramePr/>
          <p:nvPr>
            <p:custDataLst>
              <p:tags r:id="rId1"/>
            </p:custDataLst>
          </p:nvPr>
        </p:nvGraphicFramePr>
        <p:xfrm>
          <a:off x="701675" y="2983865"/>
          <a:ext cx="7954010" cy="6376035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3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85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match_id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85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92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travel_pref_id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Number(Ref:travel_preferences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Travel preference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/>
          <p:nvPr>
            <p:custDataLst>
              <p:tags r:id="rId2"/>
            </p:custDataLst>
          </p:nvPr>
        </p:nvGraphicFramePr>
        <p:xfrm>
          <a:off x="9364980" y="2878455"/>
          <a:ext cx="8389620" cy="6663690"/>
        </p:xfrm>
        <a:graphic>
          <a:graphicData uri="http://schemas.openxmlformats.org/drawingml/2006/table">
            <a:tbl>
              <a:tblPr/>
              <a:tblGrid>
                <a:gridCol w="2796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06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message_id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group_id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(Ref:groups)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Group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sender_id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Sender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content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Chat message content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sent_at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Message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6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635" y="1467485"/>
            <a:ext cx="18289270" cy="8819515"/>
            <a:chOff x="0" y="0"/>
            <a:chExt cx="5980799" cy="2322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80799" cy="2322788"/>
            </a:xfrm>
            <a:custGeom>
              <a:avLst/>
              <a:gdLst/>
              <a:ahLst/>
              <a:cxnLst/>
              <a:rect l="l" t="t" r="r" b="b"/>
              <a:pathLst>
                <a:path w="5980799" h="2322788">
                  <a:moveTo>
                    <a:pt x="0" y="0"/>
                  </a:moveTo>
                  <a:lnTo>
                    <a:pt x="5980799" y="0"/>
                  </a:lnTo>
                  <a:lnTo>
                    <a:pt x="5980799" y="2322788"/>
                  </a:lnTo>
                  <a:lnTo>
                    <a:pt x="0" y="23227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5980799" cy="2389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9"/>
          <p:cNvSpPr txBox="1"/>
          <p:nvPr/>
        </p:nvSpPr>
        <p:spPr>
          <a:xfrm>
            <a:off x="4353651" y="76330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2" name="TextBox 10"/>
          <p:cNvSpPr txBox="1"/>
          <p:nvPr>
            <p:custDataLst>
              <p:tags r:id="rId1"/>
            </p:custDataLst>
          </p:nvPr>
        </p:nvSpPr>
        <p:spPr>
          <a:xfrm>
            <a:off x="483933" y="2113062"/>
            <a:ext cx="192573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PAYMENTS </a:t>
            </a:r>
          </a:p>
        </p:txBody>
      </p:sp>
      <p:sp>
        <p:nvSpPr>
          <p:cNvPr id="13" name="TextBox 11"/>
          <p:cNvSpPr txBox="1"/>
          <p:nvPr>
            <p:custDataLst>
              <p:tags r:id="rId2"/>
            </p:custDataLst>
          </p:nvPr>
        </p:nvSpPr>
        <p:spPr>
          <a:xfrm>
            <a:off x="9538818" y="2113062"/>
            <a:ext cx="186630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REFUNDS </a:t>
            </a:r>
          </a:p>
        </p:txBody>
      </p:sp>
      <p:graphicFrame>
        <p:nvGraphicFramePr>
          <p:cNvPr id="14" name="Table 13"/>
          <p:cNvGraphicFramePr/>
          <p:nvPr>
            <p:custDataLst>
              <p:tags r:id="rId3"/>
            </p:custDataLst>
          </p:nvPr>
        </p:nvGraphicFramePr>
        <p:xfrm>
          <a:off x="9864090" y="2824480"/>
          <a:ext cx="7615555" cy="7075362"/>
        </p:xfrm>
        <a:graphic>
          <a:graphicData uri="http://schemas.openxmlformats.org/drawingml/2006/table">
            <a:tbl>
              <a:tblPr/>
              <a:tblGrid>
                <a:gridCol w="2484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61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amount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Decimal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amount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method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method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334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status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Enum(‘Pending,’Completed’,’Failed’)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status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paid_at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reference_no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reference 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/>
          <p:nvPr>
            <p:custDataLst>
              <p:tags r:id="rId4"/>
            </p:custDataLst>
          </p:nvPr>
        </p:nvGraphicFramePr>
        <p:xfrm>
          <a:off x="762000" y="2825115"/>
          <a:ext cx="6699250" cy="6895338"/>
        </p:xfrm>
        <a:graphic>
          <a:graphicData uri="http://schemas.openxmlformats.org/drawingml/2006/table">
            <a:tbl>
              <a:tblPr/>
              <a:tblGrid>
                <a:gridCol w="218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amount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Decimal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amount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method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method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status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Enum(‘Pending,’Completed’,’Failed’)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status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paid_at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reference_no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reference 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663245"/>
            <a:ext cx="18288000" cy="8819335"/>
            <a:chOff x="0" y="0"/>
            <a:chExt cx="4816593" cy="2322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22788"/>
            </a:xfrm>
            <a:custGeom>
              <a:avLst/>
              <a:gdLst/>
              <a:ahLst/>
              <a:cxnLst/>
              <a:rect l="l" t="t" r="r" b="b"/>
              <a:pathLst>
                <a:path w="4816592" h="2322788">
                  <a:moveTo>
                    <a:pt x="0" y="0"/>
                  </a:moveTo>
                  <a:lnTo>
                    <a:pt x="4816592" y="0"/>
                  </a:lnTo>
                  <a:lnTo>
                    <a:pt x="4816592" y="2322788"/>
                  </a:lnTo>
                  <a:lnTo>
                    <a:pt x="0" y="23227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89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9"/>
          <p:cNvSpPr txBox="1"/>
          <p:nvPr/>
        </p:nvSpPr>
        <p:spPr>
          <a:xfrm>
            <a:off x="4639504" y="204015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1005582" y="2317819"/>
            <a:ext cx="1651099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REVIEWS 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9591174" y="2317819"/>
            <a:ext cx="3242913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TRAVEL HISTORY </a:t>
            </a:r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534035" y="3136265"/>
          <a:ext cx="8200390" cy="6816853"/>
        </p:xfrm>
        <a:graphic>
          <a:graphicData uri="http://schemas.openxmlformats.org/drawingml/2006/table">
            <a:tbl>
              <a:tblPr/>
              <a:tblGrid>
                <a:gridCol w="2675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29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29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29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amount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Decimal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amount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method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method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39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status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Enum(‘Pending,’Completed’,’Failed’)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status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paid_at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929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reference_no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Payment reference number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9416415" y="3114675"/>
          <a:ext cx="8597265" cy="6724650"/>
        </p:xfrm>
        <a:graphic>
          <a:graphicData uri="http://schemas.openxmlformats.org/drawingml/2006/table">
            <a:tbl>
              <a:tblPr/>
              <a:tblGrid>
                <a:gridCol w="286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7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history_id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(Ref:trips)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trip_date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 of trip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077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feedback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feedback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467665"/>
            <a:ext cx="18288000" cy="8819335"/>
            <a:chOff x="0" y="0"/>
            <a:chExt cx="4816593" cy="2322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22788"/>
            </a:xfrm>
            <a:custGeom>
              <a:avLst/>
              <a:gdLst/>
              <a:ahLst/>
              <a:cxnLst/>
              <a:rect l="l" t="t" r="r" b="b"/>
              <a:pathLst>
                <a:path w="4816592" h="2322788">
                  <a:moveTo>
                    <a:pt x="0" y="0"/>
                  </a:moveTo>
                  <a:lnTo>
                    <a:pt x="4816592" y="0"/>
                  </a:lnTo>
                  <a:lnTo>
                    <a:pt x="4816592" y="2322788"/>
                  </a:lnTo>
                  <a:lnTo>
                    <a:pt x="0" y="23227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89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338488" y="204015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DATABASE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4516" y="2420197"/>
            <a:ext cx="2614414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NOTIFICATION </a:t>
            </a:r>
          </a:p>
        </p:txBody>
      </p:sp>
      <p:graphicFrame>
        <p:nvGraphicFramePr>
          <p:cNvPr id="11" name="Table 10"/>
          <p:cNvGraphicFramePr/>
          <p:nvPr>
            <p:custDataLst>
              <p:tags r:id="rId1"/>
            </p:custDataLst>
          </p:nvPr>
        </p:nvGraphicFramePr>
        <p:xfrm>
          <a:off x="3654425" y="3302635"/>
          <a:ext cx="8632825" cy="5191824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Field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Description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notification_id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(Auto Increment)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Primary key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user_id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Number (Ref:users)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User reference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title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Notification title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message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String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Notification message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982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type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Enum(‘trip’,’review’,’message’,’admin_alert’)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Notification type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is_read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Boolean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Read status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created_at</a:t>
                      </a:r>
                      <a:r>
                        <a:rPr sz="2400" b="1" i="1">
                          <a:latin typeface="Times New Roman" panose="02020603050405020304"/>
                          <a:ea typeface="Calibri" panose="020F0502020204030204"/>
                        </a:rPr>
                        <a:t>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DateTime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400" i="1">
                          <a:latin typeface="Times New Roman" panose="02020603050405020304"/>
                          <a:ea typeface="Calibri" panose="020F0502020204030204"/>
                        </a:rPr>
                        <a:t>Created timestamp </a:t>
                      </a:r>
                    </a:p>
                  </a:txBody>
                  <a:tcPr marL="0" marR="0" marT="0" marB="0">
                    <a:lnL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8EAAD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467665"/>
            <a:ext cx="18288000" cy="8819335"/>
            <a:chOff x="0" y="0"/>
            <a:chExt cx="4816593" cy="2322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22788"/>
            </a:xfrm>
            <a:custGeom>
              <a:avLst/>
              <a:gdLst/>
              <a:ahLst/>
              <a:cxnLst/>
              <a:rect l="l" t="t" r="r" b="b"/>
              <a:pathLst>
                <a:path w="4816592" h="2322788">
                  <a:moveTo>
                    <a:pt x="0" y="0"/>
                  </a:moveTo>
                  <a:lnTo>
                    <a:pt x="4816592" y="0"/>
                  </a:lnTo>
                  <a:lnTo>
                    <a:pt x="4816592" y="2322788"/>
                  </a:lnTo>
                  <a:lnTo>
                    <a:pt x="0" y="23227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89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170410" y="3087767"/>
            <a:ext cx="12638568" cy="6043792"/>
          </a:xfrm>
          <a:custGeom>
            <a:avLst/>
            <a:gdLst/>
            <a:ahLst/>
            <a:cxnLst/>
            <a:rect l="l" t="t" r="r" b="b"/>
            <a:pathLst>
              <a:path w="12638568" h="6043792">
                <a:moveTo>
                  <a:pt x="0" y="0"/>
                </a:moveTo>
                <a:lnTo>
                  <a:pt x="12638568" y="0"/>
                </a:lnTo>
                <a:lnTo>
                  <a:pt x="12638568" y="6043791"/>
                </a:lnTo>
                <a:lnTo>
                  <a:pt x="0" y="6043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" t="-1142" b="-114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96081" y="204015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SCREEN IMAGES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0615" y="1916027"/>
            <a:ext cx="3029965" cy="8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Homepage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78475" cy="1631375"/>
            <a:chOff x="0" y="0"/>
            <a:chExt cx="24371300" cy="217516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36718" b="49885"/>
            <a:stretch>
              <a:fillRect/>
            </a:stretch>
          </p:blipFill>
          <p:spPr>
            <a:xfrm>
              <a:off x="0" y="0"/>
              <a:ext cx="24371300" cy="217516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9525" y="1631375"/>
            <a:ext cx="18288000" cy="8655625"/>
            <a:chOff x="0" y="0"/>
            <a:chExt cx="4816593" cy="22796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279671"/>
            </a:xfrm>
            <a:custGeom>
              <a:avLst/>
              <a:gdLst/>
              <a:ahLst/>
              <a:cxnLst/>
              <a:rect l="l" t="t" r="r" b="b"/>
              <a:pathLst>
                <a:path w="4816592" h="2279671">
                  <a:moveTo>
                    <a:pt x="0" y="0"/>
                  </a:moveTo>
                  <a:lnTo>
                    <a:pt x="4816592" y="0"/>
                  </a:lnTo>
                  <a:lnTo>
                    <a:pt x="4816592" y="2279671"/>
                  </a:lnTo>
                  <a:lnTo>
                    <a:pt x="0" y="227967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346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645602" y="2976915"/>
            <a:ext cx="10316100" cy="6531853"/>
          </a:xfrm>
          <a:custGeom>
            <a:avLst/>
            <a:gdLst/>
            <a:ahLst/>
            <a:cxnLst/>
            <a:rect l="l" t="t" r="r" b="b"/>
            <a:pathLst>
              <a:path w="10316100" h="6531853">
                <a:moveTo>
                  <a:pt x="0" y="0"/>
                </a:moveTo>
                <a:lnTo>
                  <a:pt x="10316100" y="0"/>
                </a:lnTo>
                <a:lnTo>
                  <a:pt x="10316100" y="6531853"/>
                </a:lnTo>
                <a:lnTo>
                  <a:pt x="0" y="6531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920" b="-1132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25695" y="45720"/>
            <a:ext cx="10887710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SCREEN IMAGES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0615" y="1916027"/>
            <a:ext cx="3029965" cy="8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Login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886557"/>
            <a:ext cx="18288000" cy="8400443"/>
            <a:chOff x="0" y="0"/>
            <a:chExt cx="4816593" cy="22124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212462"/>
            </a:xfrm>
            <a:custGeom>
              <a:avLst/>
              <a:gdLst/>
              <a:ahLst/>
              <a:cxnLst/>
              <a:rect l="l" t="t" r="r" b="b"/>
              <a:pathLst>
                <a:path w="4816592" h="2212462">
                  <a:moveTo>
                    <a:pt x="0" y="0"/>
                  </a:moveTo>
                  <a:lnTo>
                    <a:pt x="4816592" y="0"/>
                  </a:lnTo>
                  <a:lnTo>
                    <a:pt x="4816592" y="2212462"/>
                  </a:lnTo>
                  <a:lnTo>
                    <a:pt x="0" y="2212462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27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61943" y="3296654"/>
            <a:ext cx="6515879" cy="6312258"/>
          </a:xfrm>
          <a:custGeom>
            <a:avLst/>
            <a:gdLst/>
            <a:ahLst/>
            <a:cxnLst/>
            <a:rect l="l" t="t" r="r" b="b"/>
            <a:pathLst>
              <a:path w="6515879" h="6312258">
                <a:moveTo>
                  <a:pt x="0" y="0"/>
                </a:moveTo>
                <a:lnTo>
                  <a:pt x="6515880" y="0"/>
                </a:lnTo>
                <a:lnTo>
                  <a:pt x="6515880" y="6312258"/>
                </a:lnTo>
                <a:lnTo>
                  <a:pt x="0" y="631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045407" y="3419420"/>
            <a:ext cx="6983912" cy="6189492"/>
          </a:xfrm>
          <a:custGeom>
            <a:avLst/>
            <a:gdLst/>
            <a:ahLst/>
            <a:cxnLst/>
            <a:rect l="l" t="t" r="r" b="b"/>
            <a:pathLst>
              <a:path w="6983912" h="6189492">
                <a:moveTo>
                  <a:pt x="0" y="0"/>
                </a:moveTo>
                <a:lnTo>
                  <a:pt x="6983912" y="0"/>
                </a:lnTo>
                <a:lnTo>
                  <a:pt x="6983912" y="6189492"/>
                </a:lnTo>
                <a:lnTo>
                  <a:pt x="0" y="6189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248381" y="2141485"/>
            <a:ext cx="3791239" cy="87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4640" b="1" u="sng">
                <a:solidFill>
                  <a:srgbClr val="000000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Register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04180" y="247650"/>
            <a:ext cx="10064115" cy="1274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SCREEN IMAGES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1280978"/>
            <a:ext cx="18288000" cy="9006022"/>
            <a:chOff x="0" y="0"/>
            <a:chExt cx="4816593" cy="23719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371956"/>
            </a:xfrm>
            <a:custGeom>
              <a:avLst/>
              <a:gdLst/>
              <a:ahLst/>
              <a:cxnLst/>
              <a:rect l="l" t="t" r="r" b="b"/>
              <a:pathLst>
                <a:path w="4816592" h="2371956">
                  <a:moveTo>
                    <a:pt x="0" y="0"/>
                  </a:moveTo>
                  <a:lnTo>
                    <a:pt x="4816592" y="0"/>
                  </a:lnTo>
                  <a:lnTo>
                    <a:pt x="4816592" y="2371956"/>
                  </a:lnTo>
                  <a:lnTo>
                    <a:pt x="0" y="237195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2438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490677" y="17328"/>
            <a:ext cx="9008992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b="1">
                <a:solidFill>
                  <a:srgbClr val="FFFFFF"/>
                </a:solidFill>
                <a:latin typeface="Times New Roman Bold" panose="02030802070405020303"/>
                <a:ea typeface="Times New Roman Bold" panose="02030802070405020303"/>
                <a:cs typeface="Times New Roman Bold" panose="02030802070405020303"/>
                <a:sym typeface="Times New Roman Bold" panose="02030802070405020303"/>
              </a:rPr>
              <a:t>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1328" y="1933389"/>
            <a:ext cx="17716672" cy="66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• IEEE Std 830-1998 – IEEE Recommended Practice for Software Requirements Specifications.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• Sommerville, Ian. Software Engineering, 10th Edition, Pearson, 2016.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• Pressman, Roger S. Software Engineering: A Practitioner’s Approach, 8th Edition, McGraw-Hill, 2014.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• TutorialsPoint. “Software Requirements Specification (SRS) Tutorial.” Available at: https://www.tutorialspoint.com/software_engineering/software_requirements.htm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 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Helios" panose="020B0504020202020204"/>
                <a:ea typeface="Helios" panose="020B0504020202020204"/>
                <a:cs typeface="Helios" panose="020B0504020202020204"/>
                <a:sym typeface="Helios" panose="020B0504020202020204"/>
              </a:rPr>
              <a:t>• GeeksforGeeks. “Software Requirements Specification (SRS) – Introduction.” Available at: https://www.geeksforgeeks.org/software-requirements-specification-srs/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575" y="-222017"/>
            <a:ext cx="26584206" cy="10509017"/>
          </a:xfrm>
          <a:custGeom>
            <a:avLst/>
            <a:gdLst/>
            <a:ahLst/>
            <a:cxnLst/>
            <a:rect l="l" t="t" r="r" b="b"/>
            <a:pathLst>
              <a:path w="26584206" h="10509017">
                <a:moveTo>
                  <a:pt x="0" y="0"/>
                </a:moveTo>
                <a:lnTo>
                  <a:pt x="26584206" y="0"/>
                </a:lnTo>
                <a:lnTo>
                  <a:pt x="26584206" y="10509017"/>
                </a:lnTo>
                <a:lnTo>
                  <a:pt x="0" y="10509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212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82026" y="4046315"/>
            <a:ext cx="8723948" cy="196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60"/>
              </a:lnSpc>
            </a:pPr>
            <a:r>
              <a:rPr lang="en-US" sz="11255">
                <a:solidFill>
                  <a:srgbClr val="FFFFFF"/>
                </a:solidFill>
                <a:latin typeface="Arapey Bold" panose="02000000000000000000"/>
                <a:ea typeface="Arapey Bold" panose="02000000000000000000"/>
                <a:cs typeface="Arapey Bold" panose="02000000000000000000"/>
                <a:sym typeface="Arapey Bold" panose="02000000000000000000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9*590"/>
  <p:tag name="TABLE_ENDDRAG_RECT" val="40*174*689*59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2*580"/>
  <p:tag name="TABLE_ENDDRAG_RECT" val="39*201*622*58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3*544"/>
  <p:tag name="TABLE_ENDDRAG_RECT" val="720*245*683*5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94*449"/>
  <p:tag name="TABLE_ENDDRAG_RECT" val="29*241*594*44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1*463"/>
  <p:tag name="TABLE_ENDDRAG_RECT" val="752*228*581*46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0*509"/>
  <p:tag name="TABLE_ENDDRAG_RECT" val="41*268*630*50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2*499"/>
  <p:tag name="TABLE_ENDDRAG_RECT" val="773*270*602*49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6*502"/>
  <p:tag name="TABLE_ENDDRAG_RECT" val="55*234*626*5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0*524"/>
  <p:tag name="TABLE_ENDDRAG_RECT" val="737*226*660*5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9.1492913385827,&quot;left&quot;:38.10496062992126,&quot;top&quot;:166.3828346456693,&quot;width&quot;:1456.083070866141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9.1492913385827,&quot;left&quot;:38.10496062992126,&quot;top&quot;:166.3828346456693,&quot;width&quot;:1456.083070866141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99*541"/>
  <p:tag name="TABLE_ENDDRAG_RECT" val="776*222*599*54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27*541"/>
  <p:tag name="TABLE_ENDDRAG_RECT" val="149*220*527*5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5*526"/>
  <p:tag name="TABLE_ENDDRAG_RECT" val="74*246*645*5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6*529"/>
  <p:tag name="TABLE_ENDDRAG_RECT" val="741*245*676*52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9*393"/>
  <p:tag name="TABLE_ENDDRAG_RECT" val="287*260*679*39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Microsoft Office PowerPoint</Application>
  <PresentationFormat>Custom</PresentationFormat>
  <Paragraphs>463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Helios</vt:lpstr>
      <vt:lpstr>Helios Bold</vt:lpstr>
      <vt:lpstr>Arapey Bold</vt:lpstr>
      <vt:lpstr>Times New Roman</vt:lpstr>
      <vt:lpstr>Times New Roman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TRIPCONNECT PPT</dc:title>
  <dc:creator/>
  <cp:lastModifiedBy>Nishtha Garg</cp:lastModifiedBy>
  <cp:revision>3</cp:revision>
  <dcterms:created xsi:type="dcterms:W3CDTF">2006-08-16T00:00:00Z</dcterms:created>
  <dcterms:modified xsi:type="dcterms:W3CDTF">2026-01-01T10:55:52Z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14E137479F374FDF9964D3FEBF82E9AC_13</vt:lpwstr>
  </property>
  <property fmtid="{D5CDD505-2E9C-101B-9397-08002B2CF9AE}" pid="3" name="KSOProductBuildVer">
    <vt:lpwstr>1033-12.2.0.22549</vt:lpwstr>
  </property>
</Properties>
</file>